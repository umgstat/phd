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56" r:id="rId9"/>
    <p:sldId id="258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6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A1C418-C3EC-67B6-6B5D-E2C0C2A72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7B6058-833A-EDC2-E786-82DCC9955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77582C-90A3-EC63-A466-7B4E74BDA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CD20D2-A998-77C6-D834-2AB653740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F48053-FB48-11C9-52A5-754B059E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751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D0023A-25C1-F140-DA53-30864C6D2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C39034-5B91-9D38-5CF7-FEF68B57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D41A20-A718-5303-4A0C-769D3B98D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4BC7F3-8238-D4E6-8E4C-0BCBD50BA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FBC04E-6415-F837-0D25-5055AF47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684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722F29-1667-57E3-D7C4-A3FBB1CF5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0A4E69-5141-4146-1539-D565C6486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F7C82E-5526-BE03-0949-2D18E4681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0181A8-F12E-0F9D-B23C-612D25C71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27AC68-A204-3473-C84E-18DD4D68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661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E1A464-D475-A831-41A1-5CCFE9567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0564B9-A592-D5E6-ADE8-53907C967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19ECCDE-474E-86CD-D45E-8F99F97B2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103B8B-B4C1-E22C-4B22-E6180EAB2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E6F27DC-E70C-A26E-3935-CFB146E05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A43FFD2-DE2C-31A4-919C-FDC97C0F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729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E4B200-032B-C5AF-1096-BAB7111C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DE35B7-3D1D-F305-A7C6-799C3CE6C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AE0BEAC-FAD4-F87E-5A30-79B9CD3BA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66695B4-FD15-1948-6CD9-E7D735B55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71D695A-FB4D-E8B1-F42C-0558E74C5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A573D13-2FA2-A421-6B35-5D1FA56FC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1AFB973-2A61-5634-340B-0F6D41D3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F9A69E3-156A-CC67-92D1-A2A14E82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101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656D93-9988-1AE6-0E93-CECEBFD9C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3AA0BFB-1CC5-EF91-21F3-65E696477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65BF40A-F6E0-1AFC-DE1A-EAC9E89C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95CB9C3-1BA3-62AB-B81D-74466E22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833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ED8D720-BA96-D554-4B09-13117AC18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B25AE77-53F0-CA8B-1EAC-B5D8E86C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2C7A2F-C3EE-A6A9-B1CF-1823A782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047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AB4E5F-BE8E-8C4D-D9C2-6BE1F1D18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55EE93-48FC-87D6-2686-295376361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710E11C-1F10-4A83-7FA0-72E07510F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1DF3ECA-5552-45FA-6995-034FFDCD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861D31F-7472-D34A-77A9-C87470AA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6CF5854-5491-0658-5C64-566279C5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63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BDABFD-7BD9-34AB-CDD9-8AF523096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5EA04FF-842A-6811-90D0-D665D6D14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CA69A50-A8E3-688F-6209-378F60C38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3AA2D6-A982-CDE2-C7E9-01AA3C8F4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40758A6-A112-4257-5723-7759DFC76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AC3CBA5-C4EE-C411-0E62-2330F9F1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245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E921FA-323D-D74D-8618-0E521F14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362C73-327E-B42E-0D71-938F8B788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45FD9A-842D-B04F-88C7-AC7FD18B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93C9A9-D149-6657-0C94-BD4F191D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4486F1-AD73-D2D2-136A-76ABB0FE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365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FCA3301-B12B-A1AC-F551-93FF7413C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C55A8FC-4853-C54E-D1D9-519A61D76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ACC316-894B-EA1A-8FEA-10F59F4D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F87259-C156-0DEE-BED9-F121C38F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17703E-949B-88EF-5A51-99C54F72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386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DFAF53F-19DA-9B5B-E187-A53434E6A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CBFAD0-82D1-0B6E-D1C9-EB0C9AB6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5A7B1D1-51BC-434B-76C1-16E221F67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B70F7-B703-954E-B030-B738CA3D6730}" type="datetimeFigureOut">
              <a:rPr lang="it-IT" smtClean="0"/>
              <a:t>29/07/26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F21727-E0DC-B436-0F18-53B82131D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70AA08-C60D-3B5C-D7E5-9F5A13431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3583D-E063-144C-BED5-FF7A0106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256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C16B563-FDA5-74EB-1263-0750B8E6E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35" y="429322"/>
            <a:ext cx="10747964" cy="599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8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5DA27118-7B04-88E4-67D4-BE255607C91A}"/>
              </a:ext>
            </a:extLst>
          </p:cNvPr>
          <p:cNvSpPr txBox="1"/>
          <p:nvPr/>
        </p:nvSpPr>
        <p:spPr>
          <a:xfrm>
            <a:off x="3049859" y="1166843"/>
            <a:ext cx="609971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buFont typeface="+mj-lt"/>
              <a:buAutoNum type="arabicPeriod"/>
            </a:pPr>
            <a:r>
              <a:rPr lang="it-IT" sz="2000" b="1" i="0" dirty="0">
                <a:solidFill>
                  <a:srgbClr val="222222"/>
                </a:solidFill>
                <a:effectLst/>
                <a:latin typeface="+mj-lt"/>
              </a:rPr>
              <a:t>Gestione del fattore temporale:</a:t>
            </a:r>
            <a:r>
              <a:rPr lang="it-IT" sz="2000" b="0" i="0" dirty="0">
                <a:solidFill>
                  <a:srgbClr val="222222"/>
                </a:solidFill>
                <a:effectLst/>
                <a:latin typeface="+mj-lt"/>
              </a:rPr>
              <a:t> </a:t>
            </a:r>
            <a:r>
              <a:rPr lang="it-IT" sz="2000" b="0" i="0" dirty="0" err="1">
                <a:solidFill>
                  <a:srgbClr val="222222"/>
                </a:solidFill>
                <a:effectLst/>
                <a:latin typeface="+mj-lt"/>
              </a:rPr>
              <a:t>Time_h</a:t>
            </a:r>
            <a:r>
              <a:rPr lang="it-IT" sz="2000" b="0" i="0" dirty="0">
                <a:solidFill>
                  <a:srgbClr val="222222"/>
                </a:solidFill>
                <a:effectLst/>
                <a:latin typeface="+mj-lt"/>
              </a:rPr>
              <a:t> è stato incluso come variabile numerica continua nei modelli per stimare la velocità/pendenza (</a:t>
            </a:r>
            <a:r>
              <a:rPr lang="it-IT" sz="2000" b="0" i="1" dirty="0" err="1">
                <a:solidFill>
                  <a:srgbClr val="222222"/>
                </a:solidFill>
                <a:effectLst/>
                <a:latin typeface="+mj-lt"/>
              </a:rPr>
              <a:t>slope</a:t>
            </a:r>
            <a:r>
              <a:rPr lang="it-IT" sz="2000" b="0" i="0" dirty="0">
                <a:solidFill>
                  <a:srgbClr val="222222"/>
                </a:solidFill>
                <a:effectLst/>
                <a:latin typeface="+mj-lt"/>
              </a:rPr>
              <a:t>) di crescita nel tempo, mentre </a:t>
            </a:r>
            <a:r>
              <a:rPr lang="it-IT" sz="2000" b="0" i="0" dirty="0" err="1">
                <a:solidFill>
                  <a:srgbClr val="222222"/>
                </a:solidFill>
                <a:effectLst/>
                <a:latin typeface="+mj-lt"/>
              </a:rPr>
              <a:t>Time_f</a:t>
            </a:r>
            <a:r>
              <a:rPr lang="it-IT" sz="2000" b="0" i="0" dirty="0">
                <a:solidFill>
                  <a:srgbClr val="222222"/>
                </a:solidFill>
                <a:effectLst/>
                <a:latin typeface="+mj-lt"/>
              </a:rPr>
              <a:t> è preparato qualora si volesse analizzare il tempo come fattore discreto.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it-IT" sz="2000" b="1" i="0" dirty="0">
                <a:solidFill>
                  <a:srgbClr val="222222"/>
                </a:solidFill>
                <a:effectLst/>
                <a:latin typeface="+mj-lt"/>
              </a:rPr>
              <a:t>Confronto Modelli:</a:t>
            </a:r>
            <a:r>
              <a:rPr lang="it-IT" sz="2000" b="0" i="0" dirty="0">
                <a:solidFill>
                  <a:srgbClr val="222222"/>
                </a:solidFill>
                <a:effectLst/>
                <a:latin typeface="+mj-lt"/>
              </a:rPr>
              <a:t> Tramite la funzione </a:t>
            </a:r>
            <a:r>
              <a:rPr lang="it-IT" sz="2000" b="0" i="0" dirty="0" err="1">
                <a:solidFill>
                  <a:srgbClr val="222222"/>
                </a:solidFill>
                <a:effectLst/>
                <a:latin typeface="+mj-lt"/>
              </a:rPr>
              <a:t>anova</a:t>
            </a:r>
            <a:r>
              <a:rPr lang="it-IT" sz="2000" b="0" i="0" dirty="0">
                <a:solidFill>
                  <a:srgbClr val="222222"/>
                </a:solidFill>
                <a:effectLst/>
                <a:latin typeface="+mj-lt"/>
              </a:rPr>
              <a:t>(M0, M1, M2, M3) e il calcolo del $\Delta\text{AIC}$, si identifica il miglior bilanciamento tra l'adattamento ai dati e la complessità strutturale.</a:t>
            </a:r>
          </a:p>
          <a:p>
            <a:pPr marL="342900" lvl="0" indent="-342900" algn="l">
              <a:buFont typeface="+mj-lt"/>
              <a:buAutoNum type="arabicPeriod"/>
            </a:pPr>
            <a:r>
              <a:rPr lang="it-IT" sz="2000" b="1" i="0" dirty="0">
                <a:solidFill>
                  <a:srgbClr val="222222"/>
                </a:solidFill>
                <a:effectLst/>
                <a:latin typeface="+mj-lt"/>
              </a:rPr>
              <a:t>Stima REML:</a:t>
            </a:r>
            <a:r>
              <a:rPr lang="it-IT" sz="2000" b="0" i="0" dirty="0">
                <a:solidFill>
                  <a:srgbClr val="222222"/>
                </a:solidFill>
                <a:effectLst/>
                <a:latin typeface="+mj-lt"/>
              </a:rPr>
              <a:t> La fase di confronto avviene impostando REML = FALSE per garantire la validità dei test sulle strutture di effetti fissi. Una volta individuata la struttura migliore, si re-imposta REML = TRUE per ottenere stime non distorte dei componenti di varianza (residua e tra traiettorie).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966B519-173B-B952-50F3-2EFBE45D7353}"/>
              </a:ext>
            </a:extLst>
          </p:cNvPr>
          <p:cNvSpPr txBox="1"/>
          <p:nvPr/>
        </p:nvSpPr>
        <p:spPr>
          <a:xfrm>
            <a:off x="1362307" y="243511"/>
            <a:ext cx="94673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i="0" dirty="0">
                <a:solidFill>
                  <a:srgbClr val="222222"/>
                </a:solidFill>
                <a:effectLst/>
                <a:latin typeface="+mj-lt"/>
              </a:rPr>
              <a:t>SINTESI DELLE FASI PRINCIPALI DELL'ANALISI</a:t>
            </a:r>
          </a:p>
          <a:p>
            <a:endParaRPr lang="it-IT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3263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BF462FF-6E19-7388-B4FC-DCBEED44E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6" y="1415805"/>
            <a:ext cx="11355327" cy="402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7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350C95D-4BF9-6844-F46E-BF6BD9592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664" y="1334739"/>
            <a:ext cx="6914672" cy="418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2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8B2697D-B29C-6304-CA1D-647336AF7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743" y="1550021"/>
            <a:ext cx="9246514" cy="347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07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34C0087-C9BF-6921-1B77-F641A2E6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82" y="1421625"/>
            <a:ext cx="6393235" cy="401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92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1A5C1E6-161A-B77E-078B-CDC573C9D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055" y="1219355"/>
            <a:ext cx="6555889" cy="441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AA9C11D-3C5F-DBEB-BB58-671FFFECA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50" y="1321419"/>
            <a:ext cx="5522785" cy="42151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37E76B9-6A06-3D4E-BFC4-39936AFEF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976" y="1847850"/>
            <a:ext cx="52324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905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B8B965A-697D-FFC8-240C-FBE872B3B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181350" y="-723436"/>
            <a:ext cx="5829300" cy="77724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C932790-7E59-9FCE-DFD9-260A36564923}"/>
              </a:ext>
            </a:extLst>
          </p:cNvPr>
          <p:cNvSpPr txBox="1"/>
          <p:nvPr/>
        </p:nvSpPr>
        <p:spPr>
          <a:xfrm>
            <a:off x="776868" y="6155471"/>
            <a:ext cx="1063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Gruppo Bio: Emanuela Laratta, Mariachiara Paonessa, Cristiana Galeano, Giuseppe Natali*, Asia Servello</a:t>
            </a:r>
            <a:r>
              <a:rPr lang="it-IT" sz="2000" baseline="30000" dirty="0"/>
              <a:t>*</a:t>
            </a:r>
            <a:endParaRPr lang="it-IT" baseline="300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4E2CCD8-6606-5A82-E1FD-1D8EC098A88B}"/>
              </a:ext>
            </a:extLst>
          </p:cNvPr>
          <p:cNvSpPr txBox="1"/>
          <p:nvPr/>
        </p:nvSpPr>
        <p:spPr>
          <a:xfrm>
            <a:off x="9660673" y="6488668"/>
            <a:ext cx="253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r>
              <a:rPr lang="it-IT" dirty="0" err="1"/>
              <a:t>Corresponding</a:t>
            </a:r>
            <a:r>
              <a:rPr lang="it-IT" dirty="0"/>
              <a:t> </a:t>
            </a:r>
            <a:r>
              <a:rPr lang="it-IT" dirty="0" err="1"/>
              <a:t>author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14818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6978F60-1957-3B06-CF10-BFB2096C526E}"/>
              </a:ext>
            </a:extLst>
          </p:cNvPr>
          <p:cNvSpPr txBox="1"/>
          <p:nvPr/>
        </p:nvSpPr>
        <p:spPr>
          <a:xfrm>
            <a:off x="3964258" y="161075"/>
            <a:ext cx="3889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Grazie!!!!!!!!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B41EB55-F7EF-CF3B-2F1C-E98A5FB0B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97" y="2179363"/>
            <a:ext cx="4076700" cy="41656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BAD1FA9-17A5-0CF0-DB49-414F55827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806" y="992072"/>
            <a:ext cx="3840555" cy="140508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20893FE-B138-FD45-6E51-4D737FF8A253}"/>
              </a:ext>
            </a:extLst>
          </p:cNvPr>
          <p:cNvSpPr txBox="1"/>
          <p:nvPr/>
        </p:nvSpPr>
        <p:spPr>
          <a:xfrm>
            <a:off x="1641425" y="6137995"/>
            <a:ext cx="227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Prof. Massimo Borelli</a:t>
            </a:r>
          </a:p>
        </p:txBody>
      </p:sp>
      <p:pic>
        <p:nvPicPr>
          <p:cNvPr id="6" name="Immagine 5" descr="William Sealy Gosset Quotes - 3 Science Quotes - Dictionary of Science  Quotations and Scientist Quotes">
            <a:extLst>
              <a:ext uri="{FF2B5EF4-FFF2-40B4-BE49-F238E27FC236}">
                <a16:creationId xmlns:a16="http://schemas.microsoft.com/office/drawing/2014/main" id="{9AEE37E3-4B80-5967-A291-DEFF3608B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232" y="2437659"/>
            <a:ext cx="2800344" cy="373379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B5D1F2-9F1D-87D4-AE06-00DD37667001}"/>
              </a:ext>
            </a:extLst>
          </p:cNvPr>
          <p:cNvSpPr txBox="1"/>
          <p:nvPr/>
        </p:nvSpPr>
        <p:spPr>
          <a:xfrm>
            <a:off x="8186163" y="6171450"/>
            <a:ext cx="227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William Sealy Gosset</a:t>
            </a:r>
          </a:p>
        </p:txBody>
      </p:sp>
    </p:spTree>
    <p:extLst>
      <p:ext uri="{BB962C8B-B14F-4D97-AF65-F5344CB8AC3E}">
        <p14:creationId xmlns:p14="http://schemas.microsoft.com/office/powerpoint/2010/main" val="130847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174</Words>
  <Application>Microsoft Macintosh PowerPoint</Application>
  <PresentationFormat>Widescreen</PresentationFormat>
  <Paragraphs>9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Giuseppe Natali</dc:creator>
  <cp:lastModifiedBy>Giuseppe Natali</cp:lastModifiedBy>
  <cp:revision>6</cp:revision>
  <dcterms:created xsi:type="dcterms:W3CDTF">2026-07-29T08:28:39Z</dcterms:created>
  <dcterms:modified xsi:type="dcterms:W3CDTF">2026-07-29T08:57:49Z</dcterms:modified>
</cp:coreProperties>
</file>